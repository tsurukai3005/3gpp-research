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RAN4 と RAN1 で WG が異なる。観点も RF 実装 vs 信号処理。各概念の依存関係は最後のスライドで全体俯瞰する。Q&amp;A: なぜ1仕様にまとめないのか? → 担当WGと観点が異なる。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Q&amp;A: なぜ2のべき乗以外がダメか? → 例えば 45 kHz (15×3) だとサンプリングレートが 30.72 MHz の 3 倍で別 PLL 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各バンド = n プレフィックス番号 + UL/DL 周波数範囲 + デュプレックスモード。バンド番号が LTE と揃えてあるのは DSS (Dynamic Spectrum Sharing) 対応のため。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UE は最大 23 dBm が上限。基地局は条件次第で十数〜数十 W 出せる。これがカバレッジの非対称性を生む。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表記法: CA_n1A-n78C = n1で1CC(クラスA) + n78で2CC(クラスC, 100〜200MHz)。クラス: A=1CC, B=2CC(20-100MHz), C=2CC(100-200MHz), D=3CC。5.2B(DC) / 5.2C(SUL) / 5.2D(UL MIMO) / 5.2K(多方向Rx/Tx) / 5.2M(LP-WUS) も存在。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MHz 単位のチャネル BW とは別概念。実占有 = N_RB × 12 × SCS。30 kHz × 100 MHz → 273×12×30 = 98.28 MHz、残り≈1.72 MHz がガードバンド。275 RB が仕様上限 (TS 38.211 Table 4.4.2-1, 主因は FFT 4096 に対し 12×275=3300 サブキャリアが実用上限≈80%)。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Q&amp;A: なぜ −SCS/2 を引く? → DL では DC サブキャリアに RE がマップされうるが rate matching で回避する場合あり。UL では DC を含まない設計。LO リーク対策が背景。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影響は BWP 端のサブキャリアで数 dB 程度の劣化、帯域が十分離れていれば無視可。仕様書上の明確な数値は要確認。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低周波 FDD で 15 kHz 限定の理由: バンド幅狭い + 大セル CP 要件 + LTE DSS。広帯域 TDD は主力。6 GHz は 20 MHz 以上のみ。5.3A は CA 集約幅 BW_CA = F_edge_high − F_edge_low。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目的別に粒度を変えている。NR-ARFCN は精度重視、GSCN はセルサーチ高速化重視。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公称値はあくまで設計の出発点。実運用では干渉許容度とのバランスで詰めることがある。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RRC シグナリングやセルサーチでキャリア位置を特定するための整数値。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Q&amp;A: 0-3 GHz帯で M が {1,3,5} に制限される理由? → 1200 kHz グリッド内を3等分、{0,2,4}でなく{1,3,5}は DC サブキャリア回避のため（推測。仕様書上の明確な理由は要確認）。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offsetToPointA は SIB1 (ServingCellConfigCommon) で通知される。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SSB の SCS パターン: Case A=15 kHz, Case B/C=30 kHz など、バンドにより異なる (5.4.3.3)。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トレードオフ: 分離大 → デュプレクサ設計容易 / 周波数資源効率低下。5.5A〜K は CA/DC/SUL 構成時の拡張。時間不足時はこのスライドは省略可。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ADC 消費電力は帯域幅にほぼ比例 → 省電力の物理的根拠。RedCap は Rel-17 (TS 38.300)。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PRB 番号は BWP 内で 0 から付け直される。273 RB のフル CRB より少ないビット数で済む。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ルール: UL/DL 各方向で最大4つ、同時アクティブ1つ。DL BWP ≥ SSB 帯域幅、各 DL BWP に CORESET 必須、アクティブ BWP 外の受信禁止 (TS 38.214)。Rel-17 RedCap は最大 20 MHz BWP に制限。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スイッチング中は送受信停止（ブラインド期間）。UE は切替遅延を Type 1（低遅延）/Type 2（高遅延）としてケイパビリティ報告 (TS 38.133)。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ADC サンプリングレートが帯域幅に比例 → 省電力の物理的根拠。実運用: Default BWP を狭く + 必要時に Active を広く、の 2 段階運用が一般的。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 と BWP は独立した階層。混同しない。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PCell と SCell の SCS 一致を強制すると運用柔軟性が下がる → オフセットで吸収する設計選択。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目的: 不要な SCell モニタを停止して UE 消費電力を抑える。BWP はアクティブなキャリア内でのみ活性化可能。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全体俯瞰スライド。聴衆が「どの概念がどこに効くか」を1枚で見直せるように設計。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F1F1F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7764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B6B7E"/>
                </a:solidFill>
                <a:latin typeface="Calibri"/>
                <a:ea typeface="Yu Gothic UI"/>
              </a:rPr>
              <a:t>TS 38.101-1 Section 5 と TS 38.211 Section 4 を体系として読む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978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400" b="0">
                <a:solidFill>
                  <a:srgbClr val="1F1F1F"/>
                </a:solidFill>
                <a:latin typeface="Calibri"/>
                <a:ea typeface="Yu Gothic UI"/>
              </a:rPr>
              <a:t>鶴海</a:t>
            </a:r>
          </a:p>
          <a:p>
            <a:pPr algn="r"/>
            <a:r>
              <a:rPr sz="1400" b="0">
                <a:solidFill>
                  <a:srgbClr val="1F1F1F"/>
                </a:solidFill>
                <a:latin typeface="Calibri"/>
                <a:ea typeface="Yu Gothic UI"/>
              </a:rPr>
              <a:t>2026-05-02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00584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0" bIns="0"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Yu Gothic UI"/>
              </a:rPr>
              <a:t>1. 導入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4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この発表で扱う周波数リソース概念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 / TS 38.211 §4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TS 38.101-1 Sec 5（RAN4）— 帯域の範囲・幅・配置位置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Operating Band (5.2) / Channel BW (5.3) / Tx BW Config (5.3.2)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Channel Raster · NR-ARFCN (5.4.2) / Sync Raster · GSCN (5.4.3)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TS 38.211 Sec 4（RAN1）— チャネル内部の分割と UE 割当構造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SCS (4.2) / CRB · PRB (4.4.4) / BWP (4.4.5) / CA (4.5)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56632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「何が使えるか」と「どう構造化するか」を 2 仕様が分担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対象: 38.101 シリーズの Part 1 (FR1 SA) のみ。38.213/214/331 は対象外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SCS = 15 × 2^μ kHz — 以降のスライドの前提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SCS (Subcarrier Spacing)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OFDM サブキャリアの周波数間隔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μ=0: 15 kHz / μ=1: 30 kHz / μ=2: 60 kHz / μ=3: 120 kHz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SCS 大 → シンボル長・スロット長が短い（μ=3 は 125 μs スロット）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2 のべき乗倍に限定する 3 つの理由: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FFT サイズが 2^N → ASIC/FPGA で並列化容易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サンプリングレートが 30.72 MHz の 2^μ 倍 → 共通 PLL で済む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異 μ 間でスロット境界がネスト → スケジューリング単純化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SCS 選択が帯域幅設計の出発点。N_RB テーブルは SCS 行ごとに分かれる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00584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0" bIns="0"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Yu Gothic UI"/>
              </a:rPr>
              <a:t>2. TS 38.101-1 Section 5 — 帯域の範囲・幅・配置位置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4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5.2 Operating Bands — NR が使える周波数帯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§5.2 (Table 5.2-1〜4)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6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247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デュプレックス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定義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代表バンド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特徴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FDD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UL/DL が別周波数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n1, n3, n8, n28, n66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常時双方向。ペア帯域が必要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TDD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同一周波数を時分割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n41, n77, n78, n79, n96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ペア帯域不要で連続広帯域可能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SDL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DL 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n29, n75, n76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DL 容量補助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SUL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UL のみ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n80, n81, n82, n83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UL カバレッジ補助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SUL の設計動機 — 高周波 TDD の UL カバレッジ問題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§5.2C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C バンド (n78, 3.5 GHz)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広帯域だがパスロス大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DL: gNB 高出力 → カバレッジ確保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UL: UE 送信電力上限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23 dBm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→ カバレッジボトルネック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解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低周波帯 (n80/81/82) を UL 専用に追加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結果: DL = C バンド広帯域 / UL = 低周波で良好カバレッジ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周波数の役割分担で UL と DL を非対称に最適化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5.2A バンドコンビネーション — CA の 3 形態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§5.2A〜5.2M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8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4058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形態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説明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例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RF 複雑さ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Intra-band Contiguous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同一バンド内の隣接 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n78: 50 MHz × 2 = 100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低（単一広帯域 TX）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Intra-band Non-contiguous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同一バンド内、間に他社帯域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n78: 50 + 50 MHz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中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Inter-band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異なるバンドの 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n1 (20 MHz) + n78 (100 MHz)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高（バンド毎 RF）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5.3.2 最大伝送帯域幅構成 — RB 数で定義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§5.3.2 (Table 5.3.2-1)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9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14058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SCS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5 MHz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10 MHz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20 MHz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50 MHz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100 MHz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15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30 kHz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11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24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51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133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273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60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5.3.3 ガードバンド計算式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式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GB[kHz] = (BW_channel × 1000 − N_RB × SCS × 12) / 2 − SCS / 2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BW_channel × 1000: チャネル全体 [kHz]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N_RB × SCS × 12: データ占有帯域 [kHz]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÷2: 両端に均等配分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−SCS/2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キャリア中心と CRB グリッド中心の半 SC ずれを補正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計算例 (30 kHz, 100 MHz): (100000 − 98280)/2 − 15 =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845 kHz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「最小」の意味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N_RB に 5.3.2 の最大値を代入した、最も狭いマージン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目的: 隣接チャネル干渉 (ACI) 防止 + フィルタロールオフ吸収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5.3.4 RB 整列と複数ニューメロロジー多重化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同一キャリアで異 SCS の BWP が共存する際の CRB 整列規則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30 kHz の 1 RB = 15 kHz の 2 RB → 境界が必ずネスト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問題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異 SCS のサブキャリア間で OFDM 直交性が崩れる (INI)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INI = Inter-Numerology Interference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仕様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BWP 間のガードバンド要件は明示されない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実装上の対策: BWP 間の周波数的分離 / ウィンドウイング・フィルタリング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5B6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INI 対策は実装判断に委ねられる（数値的劣化は実装依存）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5.3.5 運用バンドごとの UE チャネル帯域幅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§5.3.5 (Table 5.3.5-1)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12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37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バンド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SCS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サポートされる BW (MHz)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パターン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n5, n20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15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3〜25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低周波 FDD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n8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15 kHz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5〜35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低周波 FDD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n1, n3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15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5〜50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中周波 FDD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n77, n78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15/30 kHz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10〜100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広帯域 TDD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30/60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20, 40, 60, 80, 100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6 GHz 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5.4 3 層ラスターの設計思想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§5.4.2 全体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ラスター = キャリア・信号を配置できる離散的な周波数位置の集合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グローバル周波数ラスター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(5/15/60 kHz): NR-ARFCN の計算基盤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チャネルラスター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(バンド別 ΔF_Raster): キャリア中心を置ける離散位置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sub-3 GHz: 100 kHz / C バンド (n77/78): 15 kHz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一部バンドはサブセットラスター（特定位置のみ有効）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同期ラスター / GSCN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SSB を配置できる離散位置（粒度 〜1.2 MHz）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セルサーチで走査候補を絞るため意図的に粗い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SSB 中心 ≠ キャリア中心。オフセットは MIB の kSSB で通知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5.4.1 チャネル間隔の計算式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§5.4.1.1〜2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NR-NR 隣接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Nominal Spacing = (BW_1 + BW_2) / 2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NR-LTE 隣接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同式（BW_NR + BW_E-UTRA）/ 2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意味: 2 つのキャリアの端がちょうど接する距離 = 各半幅の合計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実際の配置: 公称値を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チャネルラスター ΔF_Raster の倍数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に丸め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NR-LTE 隣接時: 両ラスター制約を同時に満たす位置に丸め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5B6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オペレーターは公称値より狭い間隔も選択可（GB を犠牲に効率向上）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5.4.2.1 NR-ARFCN 計算式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§5.4.2.1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式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F_REF[kHz] = F_REF-Offs + ΔF_Global × (N_REF − N_REF-Offs)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0–3 GHz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ΔF=5 kHz, F-Offs=0, N-Offs=0, N=0〜599,999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3–24.25 GHz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ΔF=15 kHz, F-Offs=3,000 MHz, N-Offs=600,000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24.25–100 GHz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ΔF=60 kHz, F-Offs=24,250.08 MHz, N-Offs=2,016,667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計算例: 3600 MHz → 600,000 + (3,600,000−3,000,000)/15 =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640,000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高周波ほどステップが粗い: 帯域広く候補数を抑制、相対精度は十分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5.4.3 同期ラスター (GSCN) と設計トレードオフ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§5.4.3.1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GSCN = SSB を配置できる離散周波数の番号体系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0–3 GHz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SS_ref = N×1200 kHz + M×50 kHz (M∈{1,3,5})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GSCN 間隔: 100 kHz (M 間) / 1000 kHz (N 境界)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3–24.25 GHz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1.44 MHz ステップ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24.25–100 GHz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17.28 MHz ステップ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なぜ粗いか: 全チャネルラスター位置を走査するとセルサーチが時間超過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粗い ↔ セルサーチ高速 / SSB 配置自由度低下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Point A の決定経路 — ラスターからリソースグリッドへ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§4.4.4 + TS 38.101-1 §5.4.2.2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Point A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= CRB 0 のサブキャリア 0 の中心周波数。全周波数参照の起点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決定方法: キャリア中心 (NR-ARFCN) から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offsetToPointA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で導出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offsetToPointA: 15 kHz SCS 単位の RB オフセット (RRC, SIB1 で通知)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CRB 番号は Point A から上方に連続付番。μ ごとに独立した CRB 系列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BWP は CRB の連続サブセット (N_start,BWP,i / N_size,BWP,i)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5.4.2.2: キャリア中心は必ずしもサブキャリア中心に一致しない（半 SC 許容）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NR-ARFCN → Point A → CRB → BWP → PRB の参照チェーン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セルサーチ手順 — ラスターが起点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/ TS 38.213 §4.1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Step 1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同期ラスター (GSCN) 位置のみを走査 → SSB 候補周波数を絞る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Step 2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PSS 検出 → 時間同期 + セクタ ID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Step 3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SSS 検出 → 物理セル ID 確定 (1008 通り)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Step 4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PBCH 復号 → MIB 取得 (フレーム番号, kSSB, CORESET#0)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Step 5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CORESET#0 で SIB1 スケジューリングを受信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Step 6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SIB1 復号 → セルアクセス完了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Step 1 で同期ラスターが候補を絞ることがセルサーチ高速化の鍵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5.5 TX-RX Frequency Separation (FDD)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§5.5, 5.5A〜K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19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37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バンド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TX-RX 分離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備考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190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標準的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n3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95 MHz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/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45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狭い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n20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−41 MHz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逆デュプレックス (UL &gt; DL)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n71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−46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逆デュプレックス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00584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0" bIns="0"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Yu Gothic UI"/>
              </a:rPr>
              <a:t>3. TS 38.211 Section 4 — チャネル内部の分割と UE 割当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4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4.4.5 BWP — UE が実際に送受信する帯域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定義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キャリア帯域幅内の連続 RB のサブセット。UE が実際に送受信する範囲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各 BWP は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単一のニューメロロジー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を持つ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LTE: Cell BW = UE BW (1:1, 最大 20 MHz) → 全帯域モニタで足りる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NR: Cell BW 最大 100 MHz → 全帯域常時モニタは破綻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4 つの課題と BWP の解決: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100 MHz 全帯域モニタの消費電力 → 狭い BWP で ADC レート低減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低コスト UE が広帯域セルに参加不可 → 20 MHz BWP で参加 (Rel-17 RedCap)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異なる SCS のサービス混在 → BWP 毎に異なる μ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周波数ドメインの動的管理 → BWP 切替で UE 動作帯域を時間変動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BWP = Rel-15 で導入、UE 動作帯域幅の動的制御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BWP の定義パラメータと CRB↔PRB 変換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正式定義: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CRB の連続部分集合から選ばれた PRB の連続集合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(μ 固定)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N_start,BWP,i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BWP i の開始 CRB インデックス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N_size,BWP,i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BWP i の連続 RB 数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制約: Resource Grid からはみ出さない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変換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n_CRB = n_PRB + N_start,BWP,i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なぜ 2 つの番号体系か: CRB はキャリア全体のグローバル座標、PRB は BWP 内ローカル座標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効果: DCI のリソース割当ビット数を BWP サイズに応じて最小化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5B6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CRB = gNB 管理用 / PRB = DCI 通知用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BWP の 4 種別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§4.4.5 + TS 38.331 (RRC)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23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1247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種別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説明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設定方法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Initial BWP (#0)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初期アクセス用。CORESET#0 から導出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MIB / SIB1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First Active BWP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RRC 設定後の最初のデータ転送 BWP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RRC Reconfiguration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Default BWP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非活動タイマー満了時のフォールバック先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Dedicated BWP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サービス固有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RRC Reconfiguration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BWP スイッチング方式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§4.4.5 + TS 38.321 + TS 38.133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24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247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方式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遅延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トリガー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用途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DCI ベース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〜2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DCI Format 0_1 / 1_1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高速切替（スケジューラ判断）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タイマーベース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タイマー依存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bwp-InactivityTimer 満了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省電力フォールバック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RRC ベース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〜10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RRC Reconfiguration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長期的帯域変更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MAC 起動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可変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Random Access 手順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初期アクセス復帰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BWP サイズのトレードオフ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§4.4.5（設計判断）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25 / 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22960"/>
          <a:ext cx="11277295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37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観点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狭い BWP (20 MHz)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Yu Gothic UI"/>
                        </a:rPr>
                        <a:t>広い BWP (100 MHz)</a:t>
                      </a:r>
                    </a:p>
                  </a:txBody>
                  <a:tcPr>
                    <a:solidFill>
                      <a:srgbClr val="CC0033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消費電力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低い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高い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ピークスループット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制限される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最大化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スケジューリング柔軟性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制約あり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フルアクセス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UE RF 複雑さ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低い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高い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BWP 切替頻度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高い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  <a:ea typeface="Yu Gothic UI"/>
                        </a:rPr>
                        <a:t>低い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4.5 CA の物理層での意味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38.101-1 = どのバンド組合せを許すか / 38.211 = 物理層でどう構造化するか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各 CC が完全に独立した Resource Grid を持つ: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独自のニューメロロジー (μ)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独自の BWP 設定（最大 4 つ / 方向 / CC）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独自のフレームタイミング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最大 DL 16 + UL 16 CC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CA は「複数の独立したキャリアを束ねる」 — BWP は CC 内の話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ca-SlotOffset — 異 SCS CC 間のタイミング調整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CC 間で SCS が異なる → スロット境界が不整列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例: PCell 30 kHz (0.5 ms slot) / SCell 15 kHz (1 ms slot)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ca-SlotOffset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PCell に対する SCell のスロットレベルタイミングオフセット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用途: HARQ (再送制御) タイミングとスケジューリング調整を可能にする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前提: スロット境界はネストするが、CC 間で SCS が違うとずれる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「キャリア活性化 + BWP 活性化」の 2 段階制御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38.211 §4.5 + TS 38.321 (MAC)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873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前提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: SCell は RRC 設定後に MAC CE で活性化して初めて送受信対象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RRC 設定 (〜10 ms) と MAC CE (サブフレーム級) の 2 段階で迅速対応 + 省電力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レベル 1: キャリア活性化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(MAC CE)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PCell: 常時アクティブ、デアクティベート不可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SCell: MAC CE で個別に アクティベート / デアクティベート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レベル 2: BWP 活性化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(DCI / タイマー / RRC)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アクティブな CC 内でのみ BWP が動作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各アクティブ CC は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DL/UL 各 1 つ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のアクティブ BWP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SCell ON/OFF と BWP 切替は別レイヤ — 直交した制御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00584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0" bIns="0"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Yu Gothic UI"/>
              </a:rPr>
              <a:t>4. まとめ — パラメータの依存構造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4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337560" tIns="0" bIns="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Yu Gothic UI"/>
              </a:rPr>
              <a:t>Operating Band を起点に SCS が分岐点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Yu Gothic UI"/>
              </a:rPr>
              <a:t>TS 38.101-1 §5 全体 + TS 38.211 §4 全体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NR周波数リソースの構造</a:t>
            </a:r>
          </a:p>
        </p:txBody>
      </p:sp>
      <p:sp>
        <p:nvSpPr>
          <p:cNvPr id="5" name="__page_number__"/>
          <p:cNvSpPr txBox="1"/>
          <p:nvPr/>
        </p:nvSpPr>
        <p:spPr>
          <a:xfrm>
            <a:off x="6095847" y="6537960"/>
            <a:ext cx="5638647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5B6B7E"/>
                </a:solidFill>
                <a:latin typeface="Calibri"/>
                <a:ea typeface="Yu Gothic UI"/>
              </a:rPr>
              <a:t>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Operating Band (5.2)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が 4 つの方向に分岐する起点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→ サポートされる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SCS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を制約 (5.3.5)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 → SCS × Channel BW で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N_RB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決定 (5.3.2) →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Guardband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導出 (5.3.3)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 →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BWP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のニューメロロジー選択肢を制約 (38.211 §4.4.5)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→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チャネルラスター ΔF_Raster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を決定 (5.4.2.3)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 → 有効な NR-ARFCN → Point A → CRB → BWP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→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同期ラスター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を決定 (5.4.3.3) → GSCN 範囲 + SSB SCS パターン</a:t>
            </a:r>
          </a:p>
          <a:p>
            <a:pPr algn="l"/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▪  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→ </a:t>
            </a:r>
            <a:r>
              <a:rPr sz="1800" b="1">
                <a:solidFill>
                  <a:srgbClr val="CC0033"/>
                </a:solidFill>
                <a:latin typeface="Calibri"/>
                <a:ea typeface="Yu Gothic UI"/>
              </a:rPr>
              <a:t>TX-RX 分離</a:t>
            </a:r>
            <a:r>
              <a:rPr sz="1800" b="0">
                <a:solidFill>
                  <a:srgbClr val="1F1F1F"/>
                </a:solidFill>
                <a:latin typeface="Calibri"/>
                <a:ea typeface="Yu Gothic UI"/>
              </a:rPr>
              <a:t> (5.5, FDD のみ)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56632"/>
            <a:ext cx="11277295" cy="64008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SCS は N_RB と BWP numerology の両方を決める分岐点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solidFill>
            <a:srgbClr val="5B6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Yu Gothic UI"/>
              </a:rPr>
              <a:t>各概念は独立に設計されたのではなく連鎖的に決まる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